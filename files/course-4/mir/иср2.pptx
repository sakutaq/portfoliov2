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89058ce64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89058ce64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89058ce6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89058ce6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89058ce64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89058ce64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89058ce64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89058ce64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89058ce64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89058ce64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89058ce64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89058ce64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statearchive.ru" TargetMode="External"/><Relationship Id="rId4" Type="http://schemas.openxmlformats.org/officeDocument/2006/relationships/hyperlink" Target="http://statearchive.ru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4652400" cy="12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1400"/>
              <a:t>Федеральное казенное учреждение «Государственный архив Российской Федерации» (ГАРФ). </a:t>
            </a:r>
            <a:endParaRPr sz="140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4484500" y="3463825"/>
            <a:ext cx="4070100" cy="9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В современном виде создан в </a:t>
            </a:r>
            <a:r>
              <a:rPr b="1" lang="ru" sz="11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1992 году</a:t>
            </a:r>
            <a:r>
              <a:rPr lang="ru" sz="11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 (на базе архивов Октябрьской революции и РСФСР). История фондов восходит к XIX веку. </a:t>
            </a:r>
            <a:endParaRPr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763" y="485499"/>
            <a:ext cx="8420470" cy="417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ru">
                <a:latin typeface="Arial"/>
                <a:ea typeface="Arial"/>
                <a:cs typeface="Arial"/>
                <a:sym typeface="Arial"/>
              </a:rPr>
              <a:t>3. Направления деятельности и функции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ru" sz="1100">
                <a:latin typeface="Arial"/>
                <a:ea typeface="Arial"/>
                <a:cs typeface="Arial"/>
                <a:sym typeface="Arial"/>
              </a:rPr>
              <a:t>Хранение:</a:t>
            </a:r>
            <a:r>
              <a:rPr lang="ru" sz="1100">
                <a:latin typeface="Arial"/>
                <a:ea typeface="Arial"/>
                <a:cs typeface="Arial"/>
                <a:sym typeface="Arial"/>
              </a:rPr>
              <a:t> Обеспечение сохранности около 7 миллионов дел по истории России XIX–XXI веков.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ru" sz="1100">
                <a:latin typeface="Arial"/>
                <a:ea typeface="Arial"/>
                <a:cs typeface="Arial"/>
                <a:sym typeface="Arial"/>
              </a:rPr>
              <a:t>Публикация:</a:t>
            </a:r>
            <a:r>
              <a:rPr lang="ru" sz="1100">
                <a:latin typeface="Arial"/>
                <a:ea typeface="Arial"/>
                <a:cs typeface="Arial"/>
                <a:sym typeface="Arial"/>
              </a:rPr>
              <a:t> Официальное обнародование уникальных исторических документов.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ru" sz="1100">
                <a:latin typeface="Arial"/>
                <a:ea typeface="Arial"/>
                <a:cs typeface="Arial"/>
                <a:sym typeface="Arial"/>
              </a:rPr>
              <a:t>Услуги:</a:t>
            </a:r>
            <a:r>
              <a:rPr lang="ru" sz="1100">
                <a:latin typeface="Arial"/>
                <a:ea typeface="Arial"/>
                <a:cs typeface="Arial"/>
                <a:sym typeface="Arial"/>
              </a:rPr>
              <a:t> Исполнение социально-правовых запросов граждан (подтверждение стажа, наград, данных о репрессиях).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ru" sz="1100">
                <a:latin typeface="Arial"/>
                <a:ea typeface="Arial"/>
                <a:cs typeface="Arial"/>
                <a:sym typeface="Arial"/>
              </a:rPr>
              <a:t>Оцифровка:</a:t>
            </a:r>
            <a:r>
              <a:rPr lang="ru" sz="1100">
                <a:latin typeface="Arial"/>
                <a:ea typeface="Arial"/>
                <a:cs typeface="Arial"/>
                <a:sym typeface="Arial"/>
              </a:rPr>
              <a:t> Создание ГИС (государственной информационной системы) удаленного доступа.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ru">
                <a:latin typeface="Arial"/>
                <a:ea typeface="Arial"/>
                <a:cs typeface="Arial"/>
                <a:sym typeface="Arial"/>
              </a:rPr>
              <a:t>4. Система управления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ru" sz="1100">
                <a:latin typeface="Arial"/>
                <a:ea typeface="Arial"/>
                <a:cs typeface="Arial"/>
                <a:sym typeface="Arial"/>
              </a:rPr>
              <a:t>Куратор:</a:t>
            </a:r>
            <a:r>
              <a:rPr lang="ru" sz="1100">
                <a:latin typeface="Arial"/>
                <a:ea typeface="Arial"/>
                <a:cs typeface="Arial"/>
                <a:sym typeface="Arial"/>
              </a:rPr>
              <a:t> Федеральное архивное агентство (Росархив).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ru" sz="1100">
                <a:latin typeface="Arial"/>
                <a:ea typeface="Arial"/>
                <a:cs typeface="Arial"/>
                <a:sym typeface="Arial"/>
              </a:rPr>
              <a:t>Руководство:</a:t>
            </a:r>
            <a:r>
              <a:rPr lang="ru" sz="1100">
                <a:latin typeface="Arial"/>
                <a:ea typeface="Arial"/>
                <a:cs typeface="Arial"/>
                <a:sym typeface="Arial"/>
              </a:rPr>
              <a:t> Директор — </a:t>
            </a:r>
            <a:r>
              <a:rPr b="1" lang="ru" sz="1100">
                <a:latin typeface="Arial"/>
                <a:ea typeface="Arial"/>
                <a:cs typeface="Arial"/>
                <a:sym typeface="Arial"/>
              </a:rPr>
              <a:t>Роговая Лариса Александровна</a:t>
            </a:r>
            <a:r>
              <a:rPr lang="ru" sz="1100">
                <a:latin typeface="Arial"/>
                <a:ea typeface="Arial"/>
                <a:cs typeface="Arial"/>
                <a:sym typeface="Arial"/>
              </a:rPr>
              <a:t>. Научный руководитель — Мироненко Сергей Владимирович.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ru">
                <a:latin typeface="Arial"/>
                <a:ea typeface="Arial"/>
                <a:cs typeface="Arial"/>
                <a:sym typeface="Arial"/>
              </a:rPr>
              <a:t>5. Структура сайта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Сайт организован как сложная справочная база: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ru" sz="1100">
                <a:latin typeface="Arial"/>
                <a:ea typeface="Arial"/>
                <a:cs typeface="Arial"/>
                <a:sym typeface="Arial"/>
              </a:rPr>
              <a:t>Путеводитель:</a:t>
            </a:r>
            <a:r>
              <a:rPr lang="ru" sz="1100">
                <a:latin typeface="Arial"/>
                <a:ea typeface="Arial"/>
                <a:cs typeface="Arial"/>
                <a:sym typeface="Arial"/>
              </a:rPr>
              <a:t> Электронный каталог фондов.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ru" sz="1100">
                <a:latin typeface="Arial"/>
                <a:ea typeface="Arial"/>
                <a:cs typeface="Arial"/>
                <a:sym typeface="Arial"/>
              </a:rPr>
              <a:t>Виртуальные выставки:</a:t>
            </a:r>
            <a:r>
              <a:rPr lang="ru" sz="1100">
                <a:latin typeface="Arial"/>
                <a:ea typeface="Arial"/>
                <a:cs typeface="Arial"/>
                <a:sym typeface="Arial"/>
              </a:rPr>
              <a:t> Тематические подборки документов (например, по Романовым или истории СССР).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ru" sz="1100">
                <a:latin typeface="Arial"/>
                <a:ea typeface="Arial"/>
                <a:cs typeface="Arial"/>
                <a:sym typeface="Arial"/>
              </a:rPr>
              <a:t>Информационные услуги:</a:t>
            </a:r>
            <a:r>
              <a:rPr lang="ru" sz="1100">
                <a:latin typeface="Arial"/>
                <a:ea typeface="Arial"/>
                <a:cs typeface="Arial"/>
                <a:sym typeface="Arial"/>
              </a:rPr>
              <a:t> Формы для подачи заявок.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ru" sz="1100">
                <a:latin typeface="Arial"/>
                <a:ea typeface="Arial"/>
                <a:cs typeface="Arial"/>
                <a:sym typeface="Arial"/>
              </a:rPr>
              <a:t>ГИС:</a:t>
            </a:r>
            <a:r>
              <a:rPr lang="ru" sz="1100">
                <a:latin typeface="Arial"/>
                <a:ea typeface="Arial"/>
                <a:cs typeface="Arial"/>
                <a:sym typeface="Arial"/>
              </a:rPr>
              <a:t> Модуль удаленного использования архивных документов (требует регистрации).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ru">
                <a:latin typeface="Arial"/>
                <a:ea typeface="Arial"/>
                <a:cs typeface="Arial"/>
                <a:sym typeface="Arial"/>
              </a:rPr>
              <a:t>6. Пользователи сайта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ru" sz="1100">
                <a:latin typeface="Arial"/>
                <a:ea typeface="Arial"/>
                <a:cs typeface="Arial"/>
                <a:sym typeface="Arial"/>
              </a:rPr>
              <a:t>Исследователи:</a:t>
            </a:r>
            <a:r>
              <a:rPr lang="ru" sz="1100">
                <a:latin typeface="Arial"/>
                <a:ea typeface="Arial"/>
                <a:cs typeface="Arial"/>
                <a:sym typeface="Arial"/>
              </a:rPr>
              <a:t> Профессиональные историки и ученые.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ru" sz="1100">
                <a:latin typeface="Arial"/>
                <a:ea typeface="Arial"/>
                <a:cs typeface="Arial"/>
                <a:sym typeface="Arial"/>
              </a:rPr>
              <a:t>Граждане:</a:t>
            </a:r>
            <a:r>
              <a:rPr lang="ru" sz="1100">
                <a:latin typeface="Arial"/>
                <a:ea typeface="Arial"/>
                <a:cs typeface="Arial"/>
                <a:sym typeface="Arial"/>
              </a:rPr>
              <a:t> Люди, занимающиеся поиском родословной или восстановлением документов для пенсий/льгот.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ru" sz="1100">
                <a:latin typeface="Arial"/>
                <a:ea typeface="Arial"/>
                <a:cs typeface="Arial"/>
                <a:sym typeface="Arial"/>
              </a:rPr>
              <a:t>Студенты:</a:t>
            </a:r>
            <a:r>
              <a:rPr lang="ru" sz="1100">
                <a:latin typeface="Arial"/>
                <a:ea typeface="Arial"/>
                <a:cs typeface="Arial"/>
                <a:sym typeface="Arial"/>
              </a:rPr>
              <a:t> Для подготовки курсовых и дипломных работ.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ru">
                <a:latin typeface="Arial"/>
                <a:ea typeface="Arial"/>
                <a:cs typeface="Arial"/>
                <a:sym typeface="Arial"/>
              </a:rPr>
              <a:t>7. Оценка качества информации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ru" sz="1100">
                <a:latin typeface="Arial"/>
                <a:ea typeface="Arial"/>
                <a:cs typeface="Arial"/>
                <a:sym typeface="Arial"/>
              </a:rPr>
              <a:t>Достоверность:</a:t>
            </a:r>
            <a:r>
              <a:rPr lang="ru" sz="1100">
                <a:latin typeface="Arial"/>
                <a:ea typeface="Arial"/>
                <a:cs typeface="Arial"/>
                <a:sym typeface="Arial"/>
              </a:rPr>
              <a:t> Абсолютная (первоисточники, юридически значимые документы).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ru" sz="1100">
                <a:latin typeface="Arial"/>
                <a:ea typeface="Arial"/>
                <a:cs typeface="Arial"/>
                <a:sym typeface="Arial"/>
              </a:rPr>
              <a:t>Полнота:</a:t>
            </a:r>
            <a:r>
              <a:rPr lang="ru" sz="1100">
                <a:latin typeface="Arial"/>
                <a:ea typeface="Arial"/>
                <a:cs typeface="Arial"/>
                <a:sym typeface="Arial"/>
              </a:rPr>
              <a:t> Это крупнейший архив страны, однако процесс оцифровки 7 млн дел — это работа на десятилетия, поэтому в электронном виде доступна лишь часть.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ru" sz="1100">
                <a:latin typeface="Arial"/>
                <a:ea typeface="Arial"/>
                <a:cs typeface="Arial"/>
                <a:sym typeface="Arial"/>
              </a:rPr>
              <a:t>Актуальность:</a:t>
            </a:r>
            <a:r>
              <a:rPr lang="ru" sz="1100">
                <a:latin typeface="Arial"/>
                <a:ea typeface="Arial"/>
                <a:cs typeface="Arial"/>
                <a:sym typeface="Arial"/>
              </a:rPr>
              <a:t> Информация пополняется по мере рассекречивания новых фондов.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ru">
                <a:latin typeface="Arial"/>
                <a:ea typeface="Arial"/>
                <a:cs typeface="Arial"/>
                <a:sym typeface="Arial"/>
              </a:rPr>
              <a:t>8. Расположение и контакты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ru" sz="1100">
                <a:latin typeface="Arial"/>
                <a:ea typeface="Arial"/>
                <a:cs typeface="Arial"/>
                <a:sym typeface="Arial"/>
              </a:rPr>
              <a:t>Город/Страна:</a:t>
            </a:r>
            <a:r>
              <a:rPr lang="ru" sz="1100">
                <a:latin typeface="Arial"/>
                <a:ea typeface="Arial"/>
                <a:cs typeface="Arial"/>
                <a:sym typeface="Arial"/>
              </a:rPr>
              <a:t> Москва, Россия (основные здания на ул. Большая Пироговская и Бережковской набережной).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ru" sz="1100">
                <a:latin typeface="Arial"/>
                <a:ea typeface="Arial"/>
                <a:cs typeface="Arial"/>
                <a:sym typeface="Arial"/>
              </a:rPr>
              <a:t>URL:</a:t>
            </a:r>
            <a:r>
              <a:rPr lang="ru" sz="11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/>
              </a:rPr>
              <a:t> </a:t>
            </a:r>
            <a:r>
              <a:rPr lang="ru" sz="1100" u="sng">
                <a:latin typeface="Arial"/>
                <a:ea typeface="Arial"/>
                <a:cs typeface="Arial"/>
                <a:sym typeface="Arial"/>
                <a:hlinkClick r:id="rId4"/>
              </a:rPr>
              <a:t>http://statearchive.ru</a:t>
            </a:r>
            <a:endParaRPr sz="1100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ru">
                <a:latin typeface="Arial"/>
                <a:ea typeface="Arial"/>
                <a:cs typeface="Arial"/>
                <a:sym typeface="Arial"/>
              </a:rPr>
              <a:t>9. Наличие рекламы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ru" sz="1100">
                <a:latin typeface="Arial"/>
                <a:ea typeface="Arial"/>
                <a:cs typeface="Arial"/>
                <a:sym typeface="Arial"/>
              </a:rPr>
              <a:t>Реклама отсутствует.</a:t>
            </a:r>
            <a:r>
              <a:rPr lang="ru" sz="1100">
                <a:latin typeface="Arial"/>
                <a:ea typeface="Arial"/>
                <a:cs typeface="Arial"/>
                <a:sym typeface="Arial"/>
              </a:rPr>
              <a:t> Сайт является государственным информационным ресурсом и финансируется из бюджета.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t/>
            </a:r>
            <a:endParaRPr sz="1100" u="sng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ru">
                <a:latin typeface="Arial"/>
                <a:ea typeface="Arial"/>
                <a:cs typeface="Arial"/>
                <a:sym typeface="Arial"/>
              </a:rPr>
              <a:t>10. Общее впечатление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ru" sz="1100">
                <a:latin typeface="Arial"/>
                <a:ea typeface="Arial"/>
                <a:cs typeface="Arial"/>
                <a:sym typeface="Arial"/>
              </a:rPr>
              <a:t>Интерфейс:</a:t>
            </a:r>
            <a:r>
              <a:rPr lang="ru" sz="1100">
                <a:latin typeface="Arial"/>
                <a:ea typeface="Arial"/>
                <a:cs typeface="Arial"/>
                <a:sym typeface="Arial"/>
              </a:rPr>
              <a:t> Консервативный, местами перегружен текстом, но функциональный для тех, кто понимает структуру архивного дела.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ru" sz="1100">
                <a:latin typeface="Arial"/>
                <a:ea typeface="Arial"/>
                <a:cs typeface="Arial"/>
                <a:sym typeface="Arial"/>
              </a:rPr>
              <a:t>Стиль:</a:t>
            </a:r>
            <a:r>
              <a:rPr lang="ru" sz="1100">
                <a:latin typeface="Arial"/>
                <a:ea typeface="Arial"/>
                <a:cs typeface="Arial"/>
                <a:sym typeface="Arial"/>
              </a:rPr>
              <a:t> Академический. Поиск требует определенных навыков (нужно знать номера фондов или точные названия ведомств).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ru" sz="1100">
                <a:latin typeface="Arial"/>
                <a:ea typeface="Arial"/>
                <a:cs typeface="Arial"/>
                <a:sym typeface="Arial"/>
              </a:rPr>
              <a:t>Дизайн:</a:t>
            </a:r>
            <a:r>
              <a:rPr lang="ru" sz="1100">
                <a:latin typeface="Arial"/>
                <a:ea typeface="Arial"/>
                <a:cs typeface="Arial"/>
                <a:sym typeface="Arial"/>
              </a:rPr>
              <a:t> Устаревший по меркам 2024 года, но стабильный и надежный.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ru">
                <a:latin typeface="Arial"/>
                <a:ea typeface="Arial"/>
                <a:cs typeface="Arial"/>
                <a:sym typeface="Arial"/>
              </a:rPr>
              <a:t>11. Источники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AutoNum type="arabicPeriod"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Официальный портал ГАРФ (statearchive.ru).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AutoNum type="arabicPeriod"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Федеральный закон «Об архивном деле в Российской Федерации».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AutoNum type="arabicPeriod"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Справочник «Архивы России» (archives.gov.ru).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