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8d2c17095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8d2c1709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8d2c17095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8d2c17095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ncdc.noaa.gov" TargetMode="External"/><Relationship Id="rId4" Type="http://schemas.openxmlformats.org/officeDocument/2006/relationships/hyperlink" Target="https://www.ncdc.noaa.gov" TargetMode="External"/><Relationship Id="rId5" Type="http://schemas.openxmlformats.org/officeDocument/2006/relationships/hyperlink" Target="https://www.google.com/search?q=https://www.dkrz.de" TargetMode="External"/><Relationship Id="rId6" Type="http://schemas.openxmlformats.org/officeDocument/2006/relationships/hyperlink" Target="https://www.google.com/search?q=https://www.dkrz.de" TargetMode="External"/><Relationship Id="rId7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World Data Center for Climate (WDCC)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chemeClr val="dk1"/>
                </a:solidFill>
              </a:rPr>
              <a:t>Основные функции:</a:t>
            </a:r>
            <a:r>
              <a:rPr lang="ru" sz="1100">
                <a:solidFill>
                  <a:schemeClr val="dk1"/>
                </a:solidFill>
              </a:rPr>
              <a:t> Сбор, хранение и распространение данных о климатических изменениях (атмосфера, океан, ледники).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chemeClr val="dk1"/>
                </a:solidFill>
              </a:rPr>
              <a:t>Система управления:</a:t>
            </a:r>
            <a:r>
              <a:rPr lang="ru" sz="1100">
                <a:solidFill>
                  <a:schemeClr val="dk1"/>
                </a:solidFill>
              </a:rPr>
              <a:t> Управляется Немецким климатическим вычислительным центром (DKRZ).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chemeClr val="dk1"/>
                </a:solidFill>
              </a:rPr>
              <a:t>Структура сайта:</a:t>
            </a:r>
            <a:r>
              <a:rPr lang="ru" sz="1100">
                <a:solidFill>
                  <a:schemeClr val="dk1"/>
                </a:solidFill>
              </a:rPr>
              <a:t> Иерархические каталоги данных, системы визуализации (моделирование климата), архивы.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chemeClr val="dk1"/>
                </a:solidFill>
              </a:rPr>
              <a:t>Пользователи:</a:t>
            </a:r>
            <a:r>
              <a:rPr lang="ru" sz="1100">
                <a:solidFill>
                  <a:schemeClr val="dk1"/>
                </a:solidFill>
              </a:rPr>
              <a:t> Ученые-климатологи, экологи, правительственные организации.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chemeClr val="dk1"/>
                </a:solidFill>
              </a:rPr>
              <a:t>Оценка качества:</a:t>
            </a:r>
            <a:r>
              <a:rPr lang="ru" sz="1100">
                <a:solidFill>
                  <a:schemeClr val="dk1"/>
                </a:solidFill>
              </a:rPr>
              <a:t> Высочайшая достоверность (верификация научным сообществом), актуальность данных за сотни лет.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chemeClr val="dk1"/>
                </a:solidFill>
              </a:rPr>
              <a:t>Расположение:</a:t>
            </a:r>
            <a:r>
              <a:rPr lang="ru" sz="1100">
                <a:solidFill>
                  <a:schemeClr val="dk1"/>
                </a:solidFill>
              </a:rPr>
              <a:t> Гамбург, Германия.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chemeClr val="dk1"/>
                </a:solidFill>
              </a:rPr>
              <a:t>Реклама:</a:t>
            </a:r>
            <a:r>
              <a:rPr lang="ru" sz="1100">
                <a:solidFill>
                  <a:schemeClr val="dk1"/>
                </a:solidFill>
              </a:rPr>
              <a:t> Полностью отсутствует (некоммерческий научный ресурс).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</a:rPr>
              <a:t>Самый масштабный в мире архив климатических моделей, фундаментальный инструмент для борьбы с глобальным потеплением.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994825" y="332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00"/>
              <a:t>URL:</a:t>
            </a:r>
            <a:r>
              <a:rPr lang="ru" sz="1100">
                <a:uFill>
                  <a:noFill/>
                </a:uFill>
                <a:hlinkClick r:id="rId3"/>
              </a:rPr>
              <a:t> </a:t>
            </a:r>
            <a:r>
              <a:rPr lang="ru" sz="1100" u="sng">
                <a:hlinkClick r:id="rId4"/>
              </a:rPr>
              <a:t>https://www.ncdc.noaa.gov</a:t>
            </a:r>
            <a:r>
              <a:rPr lang="ru" sz="1100"/>
              <a:t> (через NOAA) или</a:t>
            </a:r>
            <a:r>
              <a:rPr lang="ru" sz="1100">
                <a:uFill>
                  <a:noFill/>
                </a:uFill>
                <a:hlinkClick r:id="rId5"/>
              </a:rPr>
              <a:t> </a:t>
            </a:r>
            <a:r>
              <a:rPr lang="ru" sz="1100" u="sng">
                <a:hlinkClick r:id="rId6"/>
              </a:rPr>
              <a:t>dkrz.de</a:t>
            </a:r>
            <a:r>
              <a:rPr lang="ru" sz="1100"/>
              <a:t>. 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239375" y="1104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7863" y="873050"/>
            <a:ext cx="8108267" cy="407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